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3" r:id="rId9"/>
    <p:sldId id="265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Orbitron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2B2DF5-A185-455E-AAF4-1A37C297E28A}">
  <a:tblStyle styleId="{9D2B2DF5-A185-455E-AAF4-1A37C297E2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64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726852"/>
            <a:ext cx="11581447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300" b="1" i="0" u="none" strike="noStrike" cap="none" noProof="0" dirty="0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GAMEHUB STORE</a:t>
            </a:r>
            <a:endParaRPr lang="es-CL" noProof="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107977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 noProof="0" dirty="0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Evaluación Parcial 2 - DSY1103</a:t>
            </a:r>
            <a:endParaRPr lang="es-CL" noProof="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854648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 de Microservicios Distribuidos y Despliegue Escalable</a:t>
            </a:r>
            <a:endParaRPr lang="es-CL" noProof="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730948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Integrantes: Christian A. | </a:t>
            </a:r>
            <a:r>
              <a:rPr lang="es-CL" sz="1350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Sebastián S.</a:t>
            </a:r>
            <a:br>
              <a:rPr lang="es-CL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35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Docente: Cesar Carrasco</a:t>
            </a:r>
            <a:endParaRPr lang="es-C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3119437"/>
            <a:ext cx="9525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05276" y="3443287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Fundamentos de la Arquitectura</a:t>
            </a:r>
            <a:endParaRPr lang="es-CL" noProof="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81025" y="37195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Validación, Documentación y Despliegue de Microservicios</a:t>
            </a:r>
            <a:endParaRPr lang="es-CL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215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676650"/>
            <a:ext cx="5229225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INFRAESTRUCTURA CRÍTICA</a:t>
            </a:r>
            <a:endParaRPr lang="es-CL" noProof="0" dirty="0"/>
          </a:p>
        </p:txBody>
      </p:sp>
      <p:sp>
        <p:nvSpPr>
          <p:cNvPr id="105" name="Google Shape;105;p15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22002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Service Discovery &amp; Gateway</a:t>
            </a:r>
            <a:endParaRPr lang="es-CL" noProof="0"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266700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Implementación de </a:t>
            </a: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Netflix Eureka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el registro dinámico de servicios, permitiendo que cada microservicio se localice sin 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IPs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estáticas.</a:t>
            </a:r>
            <a:endParaRPr lang="es-CL" noProof="0"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4619625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API Gateway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centraliza el tráfico, gestionando el enrutamiento y filtros de seguridad en un único punto de entrada.</a:t>
            </a:r>
            <a:endParaRPr lang="es-CL" noProof="0"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0800" y="1981200"/>
            <a:ext cx="519112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DOCUMENTACIÓN &amp; HIPERMEDIA</a:t>
            </a:r>
            <a:endParaRPr lang="es-CL" noProof="0" dirty="0"/>
          </a:p>
        </p:txBody>
      </p:sp>
      <p:sp>
        <p:nvSpPr>
          <p:cNvPr id="193" name="Google Shape;193;p21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581025" y="262413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Swagger &amp; HATEOAS</a:t>
            </a:r>
            <a:endParaRPr lang="es-CL" noProof="0" dirty="0"/>
          </a:p>
        </p:txBody>
      </p:sp>
      <p:sp>
        <p:nvSpPr>
          <p:cNvPr id="195" name="Google Shape;195;p21"/>
          <p:cNvSpPr txBox="1"/>
          <p:nvPr/>
        </p:nvSpPr>
        <p:spPr>
          <a:xfrm>
            <a:off x="581025" y="3090862"/>
            <a:ext cx="52292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Swagger (</a:t>
            </a:r>
            <a:r>
              <a:rPr lang="es-CL" sz="1500" b="1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OpenAPI</a:t>
            </a: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3):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Auto documentación de 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endpoints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parámetros y respuestas JSON para facilitar el consumo por el Front-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CL" noProof="0" dirty="0"/>
          </a:p>
        </p:txBody>
      </p:sp>
      <p:sp>
        <p:nvSpPr>
          <p:cNvPr id="196" name="Google Shape;196;p21"/>
          <p:cNvSpPr txBox="1"/>
          <p:nvPr/>
        </p:nvSpPr>
        <p:spPr>
          <a:xfrm>
            <a:off x="581025" y="419576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HATEOAS: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Implementación de enlaces de navegación en las respuestas para permitir una API navegable y madura (Nivel 3 de Richardson).</a:t>
            </a:r>
            <a:endParaRPr lang="es-C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0637" y="19621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PATRÓN CSR: ESTRUCTURA</a:t>
            </a:r>
            <a:endParaRPr lang="es-CL" noProof="0" dirty="0"/>
          </a:p>
        </p:txBody>
      </p:sp>
      <p:sp>
        <p:nvSpPr>
          <p:cNvPr id="117" name="Google Shape;117;p16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9687" y="1981200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7758162" y="2469356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</a:t>
            </a:r>
            <a:r>
              <a:rPr lang="es-CL" sz="2100" b="1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uitectura</a:t>
            </a:r>
            <a:r>
              <a:rPr lang="es-CL" sz="21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Limpia</a:t>
            </a:r>
            <a:endParaRPr lang="es-CL" noProof="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6858000" y="3000375"/>
            <a:ext cx="47529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Controller</a:t>
            </a: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Exposición de </a:t>
            </a:r>
            <a:r>
              <a:rPr lang="es-CL" sz="1650" b="0" i="0" u="none" strike="noStrike" cap="none" noProof="0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endpoints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REST y manejo de </a:t>
            </a:r>
            <a:r>
              <a:rPr lang="es-CL" sz="1650" b="0" i="0" u="none" strike="noStrike" cap="none" noProof="0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ResponseEntity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CL" noProof="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6858000" y="3733800"/>
            <a:ext cx="47529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Service: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Lógica de negocio pura y orquestación de datos.</a:t>
            </a:r>
            <a:endParaRPr lang="es-CL" noProof="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6858000" y="4467225"/>
            <a:ext cx="47529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Repository</a:t>
            </a: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/Model: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Persistencia JPA y definiciones de entidades.</a:t>
            </a:r>
            <a:endParaRPr lang="es-CL" noProof="0" dirty="0"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7766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510087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VALIDACIÓN Y REGLAS</a:t>
            </a:r>
            <a:endParaRPr lang="es-CL" noProof="0" dirty="0"/>
          </a:p>
        </p:txBody>
      </p:sp>
      <p:sp>
        <p:nvSpPr>
          <p:cNvPr id="132" name="Google Shape;132;p17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057275" y="2400300"/>
            <a:ext cx="10553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Validación JSR 380: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Uso de anotaciones como @NotBlank, @Positive y @Size para garantizar la integridad de los </a:t>
            </a:r>
            <a:r>
              <a:rPr lang="es-CL" sz="1650" b="0" i="0" u="none" strike="noStrike" cap="none" noProof="0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DTOs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antes de procesarlos.</a:t>
            </a:r>
            <a:endParaRPr lang="es-CL" noProof="0"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1057275" y="3133725"/>
            <a:ext cx="10553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Relaciones de Entidad: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Implementación de @OneToMany y @ManyToOne para vincular órdenes, detalles y productos con integridad referencial.</a:t>
            </a:r>
            <a:endParaRPr lang="es-CL" noProof="0"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1057275" y="3867150"/>
            <a:ext cx="10553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Manejo de Errores: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@RestControllerAdvice centralizado para retornar códigos HTTP 400, 404 o 500 con mensajes semánticos.</a:t>
            </a:r>
            <a:endParaRPr lang="es-CL" noProof="0"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1057275" y="4600575"/>
            <a:ext cx="105537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1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Lógica de Dominio: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Reglas específicas para descuentos, validación de stock y estados de órdenes (Pendiente, Pagada, Cancelada).</a:t>
            </a:r>
            <a:endParaRPr lang="es-CL" noProof="0" dirty="0"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431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765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9100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64343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4825" y="2395537"/>
            <a:ext cx="348615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COMUNICACIÓN REST</a:t>
            </a:r>
            <a:endParaRPr lang="es-CL" noProof="0" dirty="0"/>
          </a:p>
        </p:txBody>
      </p:sp>
      <p:sp>
        <p:nvSpPr>
          <p:cNvPr id="150" name="Google Shape;150;p18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975" y="26908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803910" y="33575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OpenFeign</a:t>
            </a:r>
            <a:endParaRPr lang="es-CL" noProof="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876300" y="38242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Clientes declarativos para intercomunicación síncrona entre Microservicios (ej. 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Order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validando Stock).</a:t>
            </a:r>
            <a:endParaRPr lang="es-CL" noProof="0" dirty="0"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875" y="269081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4575810" y="33575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Resiliencia</a:t>
            </a:r>
            <a:endParaRPr lang="es-CL" noProof="0"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4648200" y="38242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Manejo de 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Timeouts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reintentos para evitar fallos en cascada en la arquitectura distribuida.</a:t>
            </a:r>
            <a:endParaRPr lang="es-CL" noProof="0" dirty="0"/>
          </a:p>
        </p:txBody>
      </p:sp>
      <p:pic>
        <p:nvPicPr>
          <p:cNvPr id="157" name="Google Shape;15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01200" y="269081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8347710" y="3357562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i="0" u="none" strike="noStrike" cap="none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Interoperabilidad</a:t>
            </a:r>
            <a:endParaRPr lang="es-CL" noProof="0"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8420100" y="3824287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DTOs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compartidos y JSON para garantizar que los servicios hablen el mismo lenguaje técnico.</a:t>
            </a:r>
            <a:endParaRPr lang="es-CL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1362" y="19621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PRUEBAS UNITARIAS</a:t>
            </a:r>
            <a:endParaRPr lang="es-CL" noProof="0" dirty="0"/>
          </a:p>
        </p:txBody>
      </p:sp>
      <p:sp>
        <p:nvSpPr>
          <p:cNvPr id="176" name="Google Shape;176;p20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0" y="25050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                       </a:t>
            </a:r>
            <a:r>
              <a:rPr lang="es-CL" sz="2100" b="1" i="0" u="none" strike="noStrike" cap="none" noProof="0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Junit 5 +</a:t>
            </a:r>
            <a:r>
              <a:rPr lang="es-CL" sz="2100" b="1" i="0" u="none" strike="noStrike" cap="none" noProof="0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Mockito</a:t>
            </a:r>
            <a:endParaRPr lang="es-CL" noProof="0" dirty="0"/>
          </a:p>
        </p:txBody>
      </p:sp>
      <p:sp>
        <p:nvSpPr>
          <p:cNvPr id="178" name="Google Shape;178;p20"/>
          <p:cNvSpPr txBox="1"/>
          <p:nvPr/>
        </p:nvSpPr>
        <p:spPr>
          <a:xfrm>
            <a:off x="581025" y="29718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Aseguramos la calidad del código mediante la metodología </a:t>
            </a: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Given-</a:t>
            </a:r>
            <a:r>
              <a:rPr lang="es-CL" sz="1500" b="1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</a:t>
            </a:r>
            <a:r>
              <a:rPr lang="es-CL" sz="1500" b="1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-Then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CL" noProof="0" dirty="0"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0412" y="1981200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1057275" y="3771900"/>
            <a:ext cx="4752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Simulación de Repositorios con </a:t>
            </a:r>
            <a:r>
              <a:rPr lang="es-CL" sz="1650" b="0" i="0" u="none" strike="noStrike" cap="none" noProof="0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Mocks</a:t>
            </a: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CL" noProof="0"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1057275" y="4257675"/>
            <a:ext cx="4752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Validación de aserciones críticas.</a:t>
            </a:r>
            <a:endParaRPr lang="es-CL" noProof="0"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1057275" y="4743450"/>
            <a:ext cx="4752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i="0" u="none" strike="noStrike" cap="none" noProof="0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Pruebas de cobertura en lógica de negocio.</a:t>
            </a:r>
            <a:endParaRPr lang="es-CL" noProof="0" dirty="0"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147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005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86312"/>
            <a:ext cx="2667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771525" y="581025"/>
            <a:ext cx="11381422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50" b="1" i="0" u="none" strike="noStrike" cap="none" noProof="0" dirty="0">
                <a:solidFill>
                  <a:srgbClr val="00F2FF"/>
                </a:solidFill>
                <a:latin typeface="Orbitron"/>
                <a:ea typeface="Orbitron"/>
                <a:cs typeface="Orbitron"/>
                <a:sym typeface="Orbitron"/>
              </a:rPr>
              <a:t>CONFIGURACIÓN YAML</a:t>
            </a:r>
            <a:endParaRPr lang="es-CL" noProof="0" dirty="0"/>
          </a:p>
        </p:txBody>
      </p:sp>
      <p:sp>
        <p:nvSpPr>
          <p:cNvPr id="204" name="Google Shape;204;p22"/>
          <p:cNvSpPr/>
          <p:nvPr/>
        </p:nvSpPr>
        <p:spPr>
          <a:xfrm>
            <a:off x="581025" y="581025"/>
            <a:ext cx="47625" cy="4953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581025" y="22288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Gestión de propiedades de entorno y perfiles (Dev/</a:t>
            </a:r>
            <a:r>
              <a:rPr lang="es-CL" sz="1500" b="0" i="0" u="none" strike="noStrike" cap="none" noProof="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</a:t>
            </a:r>
            <a:r>
              <a:rPr lang="es-CL" sz="1500" b="0" i="0" u="none" strike="noStrike" cap="none" noProof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es-CL" noProof="0" dirty="0"/>
          </a:p>
        </p:txBody>
      </p:sp>
      <p:graphicFrame>
        <p:nvGraphicFramePr>
          <p:cNvPr id="206" name="Google Shape;206;p22"/>
          <p:cNvGraphicFramePr/>
          <p:nvPr>
            <p:extLst>
              <p:ext uri="{D42A27DB-BD31-4B8C-83A1-F6EECF244321}">
                <p14:modId xmlns:p14="http://schemas.microsoft.com/office/powerpoint/2010/main" val="1600712349"/>
              </p:ext>
            </p:extLst>
          </p:nvPr>
        </p:nvGraphicFramePr>
        <p:xfrm>
          <a:off x="581025" y="2724150"/>
          <a:ext cx="11029975" cy="2781250"/>
        </p:xfrm>
        <a:graphic>
          <a:graphicData uri="http://schemas.openxmlformats.org/drawingml/2006/table">
            <a:tbl>
              <a:tblPr firstRow="1" bandRow="1">
                <a:noFill/>
                <a:tableStyleId>{9D2B2DF5-A185-455E-AAF4-1A37C297E28A}</a:tableStyleId>
              </a:tblPr>
              <a:tblGrid>
                <a:gridCol w="311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00F2FF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Propiedad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00F2FF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Valor Ejemplo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i="0" u="none" strike="noStrike" cap="none" noProof="0" dirty="0">
                          <a:solidFill>
                            <a:srgbClr val="00F2FF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Descripción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 err="1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server.port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8080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Puerto local del microservicio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spring.application.name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 err="1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inventory-service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Identificador único en Eureka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 err="1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eureka.client.serviceUrl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http://localhost:8761/eureka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Ruta del servidor de descubrimiento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 err="1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spring.profiles.active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 err="1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prod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0" i="0" u="none" strike="noStrike" cap="none" noProof="0" dirty="0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Perfil de ejecución activo</a:t>
                      </a:r>
                      <a:endParaRPr lang="es-C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7" name="Google Shape;207;p22"/>
          <p:cNvSpPr/>
          <p:nvPr/>
        </p:nvSpPr>
        <p:spPr>
          <a:xfrm>
            <a:off x="581025" y="3833812"/>
            <a:ext cx="31127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693765" y="3833812"/>
            <a:ext cx="3563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257603" y="3833812"/>
            <a:ext cx="435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81025" y="4386262"/>
            <a:ext cx="31127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693765" y="4386262"/>
            <a:ext cx="3563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257603" y="4386262"/>
            <a:ext cx="435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81025" y="4938712"/>
            <a:ext cx="31127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693765" y="4938712"/>
            <a:ext cx="3563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257603" y="4938712"/>
            <a:ext cx="435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81025" y="5491162"/>
            <a:ext cx="311274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693765" y="5491162"/>
            <a:ext cx="356383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257603" y="5491162"/>
            <a:ext cx="435337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423</Words>
  <Application>Microsoft Office PowerPoint</Application>
  <PresentationFormat>Panorámica</PresentationFormat>
  <Paragraphs>54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JetBrains Mono</vt:lpstr>
      <vt:lpstr>Orbitron</vt:lpstr>
      <vt:lpstr>Arial</vt:lpstr>
      <vt:lpstr>Inter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CHRISTIAN NICOLAS ASTORGA SANDOVAL</cp:lastModifiedBy>
  <cp:revision>4</cp:revision>
  <dcterms:modified xsi:type="dcterms:W3CDTF">2026-06-23T03:14:24Z</dcterms:modified>
</cp:coreProperties>
</file>