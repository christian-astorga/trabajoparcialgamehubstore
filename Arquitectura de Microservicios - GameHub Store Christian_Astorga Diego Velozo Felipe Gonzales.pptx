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embeddedFontLst>
    <p:embeddedFont>
      <p:font typeface="Lato" panose="020F0502020204030203" pitchFamily="34" charset="0"/>
      <p:regular r:id="rId14"/>
      <p:bold r:id="rId15"/>
      <p:italic r:id="rId16"/>
      <p:boldItalic r:id="rId17"/>
    </p:embeddedFont>
    <p:embeddedFont>
      <p:font typeface="Poppins" panose="00000500000000000000" pitchFamily="2" charset="0"/>
      <p:regular r:id="rId18"/>
      <p:bold r:id="rId19"/>
      <p:italic r:id="rId20"/>
      <p:boldItalic r:id="rId2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6" d="100"/>
          <a:sy n="96" d="100"/>
        </p:scale>
        <p:origin x="1116" y="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" name="Google Shape;13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" name="Google Shape;149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" name="Google Shape;166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8" name="Google Shape;17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" name="Google Shape;192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4" name="Google Shape;204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9" name="Google Shape;219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1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3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image" Target="../media/image1.png"/><Relationship Id="rId7" Type="http://schemas.openxmlformats.org/officeDocument/2006/relationships/image" Target="../media/image3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Relationship Id="rId9" Type="http://schemas.openxmlformats.org/officeDocument/2006/relationships/image" Target="../media/image3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429125" y="1245989"/>
            <a:ext cx="3333750" cy="40377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2075497" y="1935509"/>
            <a:ext cx="8041005" cy="12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4500" b="1" i="0" u="none" strike="noStrike" cap="none" noProof="0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GameHub</a:t>
            </a:r>
            <a:r>
              <a:rPr lang="es-CL" sz="4500" b="1" i="0" u="none" strike="noStrike" cap="none" noProof="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Store:</a:t>
            </a:r>
            <a:br>
              <a:rPr lang="es-CL" sz="1800" b="0" i="0" u="none" strike="noStrike" cap="none" noProof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s-CL" sz="4500" b="1" i="0" u="none" strike="noStrike" cap="none" noProof="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Microservicios Escalables</a:t>
            </a:r>
            <a:endParaRPr lang="es-CL" noProof="0" dirty="0"/>
          </a:p>
        </p:txBody>
      </p:sp>
      <p:sp>
        <p:nvSpPr>
          <p:cNvPr id="87" name="Google Shape;87;p13"/>
          <p:cNvSpPr txBox="1"/>
          <p:nvPr/>
        </p:nvSpPr>
        <p:spPr>
          <a:xfrm>
            <a:off x="3319462" y="3383309"/>
            <a:ext cx="5553075" cy="396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950" b="0" i="0" u="none" strike="noStrike" cap="none" noProof="0" dirty="0">
                <a:solidFill>
                  <a:srgbClr val="8B949E"/>
                </a:solidFill>
                <a:latin typeface="Lato"/>
                <a:ea typeface="Lato"/>
                <a:cs typeface="Lato"/>
                <a:sym typeface="Lato"/>
              </a:rPr>
              <a:t>Diseño e Implementación de Arquitectura </a:t>
            </a:r>
            <a:r>
              <a:rPr lang="es-CL" sz="1950" b="0" i="0" u="none" strike="noStrike" cap="none" noProof="0" dirty="0" err="1">
                <a:solidFill>
                  <a:srgbClr val="8B949E"/>
                </a:solidFill>
                <a:latin typeface="Lato"/>
                <a:ea typeface="Lato"/>
                <a:cs typeface="Lato"/>
                <a:sym typeface="Lato"/>
              </a:rPr>
              <a:t>FullStack</a:t>
            </a:r>
            <a:endParaRPr lang="es-CL" noProof="0" dirty="0"/>
          </a:p>
        </p:txBody>
      </p:sp>
      <p:sp>
        <p:nvSpPr>
          <p:cNvPr id="88" name="Google Shape;88;p13"/>
          <p:cNvSpPr txBox="1"/>
          <p:nvPr/>
        </p:nvSpPr>
        <p:spPr>
          <a:xfrm>
            <a:off x="4714875" y="1341239"/>
            <a:ext cx="2762250" cy="213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050" b="1" i="0" u="none" strike="noStrike" cap="none" noProof="0" dirty="0">
                <a:solidFill>
                  <a:srgbClr val="10B981"/>
                </a:solidFill>
                <a:latin typeface="Lato"/>
                <a:ea typeface="Lato"/>
                <a:cs typeface="Lato"/>
                <a:sym typeface="Lato"/>
              </a:rPr>
              <a:t>EVALUACIÓN PARCIAL 2 - DSY1103</a:t>
            </a:r>
            <a:endParaRPr lang="es-CL" noProof="0" dirty="0"/>
          </a:p>
        </p:txBody>
      </p:sp>
      <p:sp>
        <p:nvSpPr>
          <p:cNvPr id="89" name="Google Shape;89;p13"/>
          <p:cNvSpPr txBox="1"/>
          <p:nvPr/>
        </p:nvSpPr>
        <p:spPr>
          <a:xfrm>
            <a:off x="4148137" y="4751040"/>
            <a:ext cx="237172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 b="0" i="0" u="none" strike="noStrike" cap="none" noProof="0" dirty="0">
                <a:solidFill>
                  <a:srgbClr val="8B949E"/>
                </a:solidFill>
                <a:latin typeface="Lato"/>
                <a:ea typeface="Lato"/>
                <a:cs typeface="Lato"/>
                <a:sym typeface="Lato"/>
              </a:rPr>
              <a:t>Integrantes</a:t>
            </a:r>
            <a:endParaRPr lang="es-CL" noProof="0" dirty="0"/>
          </a:p>
        </p:txBody>
      </p:sp>
      <p:sp>
        <p:nvSpPr>
          <p:cNvPr id="90" name="Google Shape;90;p13"/>
          <p:cNvSpPr txBox="1"/>
          <p:nvPr/>
        </p:nvSpPr>
        <p:spPr>
          <a:xfrm>
            <a:off x="4148137" y="5166270"/>
            <a:ext cx="2371725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350" b="1" i="0" u="none" strike="noStrike" cap="none" noProof="0" dirty="0">
                <a:solidFill>
                  <a:srgbClr val="C9D1D9"/>
                </a:solidFill>
                <a:latin typeface="Lato"/>
                <a:ea typeface="Lato"/>
                <a:cs typeface="Lato"/>
                <a:sym typeface="Lato"/>
              </a:rPr>
              <a:t>Christian A. | Diego V. | Felipe G.</a:t>
            </a:r>
            <a:endParaRPr lang="es-CL" noProof="0" dirty="0"/>
          </a:p>
        </p:txBody>
      </p:sp>
      <p:sp>
        <p:nvSpPr>
          <p:cNvPr id="91" name="Google Shape;91;p13"/>
          <p:cNvSpPr txBox="1"/>
          <p:nvPr/>
        </p:nvSpPr>
        <p:spPr>
          <a:xfrm>
            <a:off x="6900862" y="4751040"/>
            <a:ext cx="1143000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 b="0" i="0" u="none" strike="noStrike" cap="none" noProof="0" dirty="0">
                <a:solidFill>
                  <a:srgbClr val="8B949E"/>
                </a:solidFill>
                <a:latin typeface="Lato"/>
                <a:ea typeface="Lato"/>
                <a:cs typeface="Lato"/>
                <a:sym typeface="Lato"/>
              </a:rPr>
              <a:t>Docente</a:t>
            </a:r>
            <a:endParaRPr lang="es-CL" noProof="0" dirty="0"/>
          </a:p>
        </p:txBody>
      </p:sp>
      <p:sp>
        <p:nvSpPr>
          <p:cNvPr id="92" name="Google Shape;92;p13"/>
          <p:cNvSpPr txBox="1"/>
          <p:nvPr/>
        </p:nvSpPr>
        <p:spPr>
          <a:xfrm>
            <a:off x="6900862" y="5166270"/>
            <a:ext cx="114300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350" b="1" i="0" u="none" strike="noStrike" cap="none" noProof="0" dirty="0">
                <a:solidFill>
                  <a:srgbClr val="C9D1D9"/>
                </a:solidFill>
                <a:latin typeface="Lato"/>
                <a:ea typeface="Lato"/>
                <a:cs typeface="Lato"/>
                <a:sym typeface="Lato"/>
              </a:rPr>
              <a:t>Cesar Carrasco</a:t>
            </a:r>
            <a:endParaRPr lang="es-CL" noProof="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" name="Google Shape;97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4"/>
          <p:cNvSpPr txBox="1"/>
          <p:nvPr/>
        </p:nvSpPr>
        <p:spPr>
          <a:xfrm>
            <a:off x="571500" y="2505075"/>
            <a:ext cx="560070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4" b="1" i="0" u="none" strike="noStrike" cap="none" noProof="0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GameHub</a:t>
            </a:r>
            <a:r>
              <a:rPr lang="es-CL" sz="1404" b="1" i="0" u="none" strike="noStrike" cap="none" noProof="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Store E-</a:t>
            </a:r>
            <a:r>
              <a:rPr lang="es-CL" sz="1404" b="1" i="0" u="none" strike="noStrike" cap="none" noProof="0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commerce</a:t>
            </a:r>
            <a:endParaRPr lang="es-CL" noProof="0" dirty="0"/>
          </a:p>
        </p:txBody>
      </p:sp>
      <p:sp>
        <p:nvSpPr>
          <p:cNvPr id="99" name="Google Shape;99;p14"/>
          <p:cNvSpPr txBox="1"/>
          <p:nvPr/>
        </p:nvSpPr>
        <p:spPr>
          <a:xfrm>
            <a:off x="571500" y="2971800"/>
            <a:ext cx="5334000" cy="25607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500" b="0" i="0" u="none" strike="noStrike" cap="none" noProof="0" dirty="0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Una plataforma digital modular diseñada para la venta de videojuegos y hardware. El foco principal es la </a:t>
            </a:r>
            <a:r>
              <a:rPr lang="es-CL" sz="1500" b="1" i="0" u="none" strike="noStrike" cap="none" noProof="0" dirty="0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disponibilidad crítica</a:t>
            </a:r>
            <a:r>
              <a:rPr lang="es-CL" sz="1500" b="0" i="0" u="none" strike="noStrike" cap="none" noProof="0" dirty="0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 y el manejo independiente de datos.</a:t>
            </a:r>
          </a:p>
          <a:p>
            <a:pPr>
              <a:lnSpc>
                <a:spcPct val="160000"/>
              </a:lnSpc>
            </a:pPr>
            <a:r>
              <a:rPr lang="es-CL" dirty="0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Adoptamos un enfoque distribuido para garantizar que cada componente (Catálogo, Inventario, Órdenes) pueda escalar sin afectar al resto del ecosistema.</a:t>
            </a:r>
            <a:endParaRPr lang="es-CL" dirty="0">
              <a:solidFill>
                <a:schemeClr val="bg1"/>
              </a:solidFill>
            </a:endParaRPr>
          </a:p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s-CL" noProof="0" dirty="0"/>
          </a:p>
        </p:txBody>
      </p:sp>
      <p:sp>
        <p:nvSpPr>
          <p:cNvPr id="101" name="Google Shape;101;p14"/>
          <p:cNvSpPr txBox="1"/>
          <p:nvPr/>
        </p:nvSpPr>
        <p:spPr>
          <a:xfrm>
            <a:off x="762000" y="571500"/>
            <a:ext cx="11401425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850" b="1" i="0" u="none" strike="noStrike" cap="none" noProof="0" dirty="0">
                <a:solidFill>
                  <a:srgbClr val="10B981"/>
                </a:solidFill>
                <a:latin typeface="Poppins"/>
                <a:ea typeface="Poppins"/>
                <a:cs typeface="Poppins"/>
                <a:sym typeface="Poppins"/>
              </a:rPr>
              <a:t>CONTEXTO DEL PROYECTO</a:t>
            </a:r>
            <a:endParaRPr lang="es-CL" noProof="0" dirty="0"/>
          </a:p>
        </p:txBody>
      </p:sp>
      <p:sp>
        <p:nvSpPr>
          <p:cNvPr id="102" name="Google Shape;102;p14"/>
          <p:cNvSpPr/>
          <p:nvPr/>
        </p:nvSpPr>
        <p:spPr>
          <a:xfrm>
            <a:off x="571500" y="571500"/>
            <a:ext cx="57150" cy="54292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D042CFBC-545E-50A3-0B79-22866507B8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32909" y="664143"/>
            <a:ext cx="6359091" cy="540939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Google Shape;107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209800"/>
            <a:ext cx="3492549" cy="3267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799" y="2209800"/>
            <a:ext cx="3492549" cy="3267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8099" y="2209800"/>
            <a:ext cx="3492549" cy="3267075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/>
        </p:nvSpPr>
        <p:spPr>
          <a:xfrm>
            <a:off x="914400" y="3200400"/>
            <a:ext cx="2947087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1" i="0" u="none" strike="noStrike" cap="none" noProof="0" dirty="0">
                <a:solidFill>
                  <a:srgbClr val="10B981"/>
                </a:solidFill>
                <a:latin typeface="Poppins"/>
                <a:ea typeface="Poppins"/>
                <a:cs typeface="Poppins"/>
                <a:sym typeface="Poppins"/>
              </a:rPr>
              <a:t>Independencia</a:t>
            </a:r>
            <a:endParaRPr lang="es-CL" noProof="0" dirty="0"/>
          </a:p>
        </p:txBody>
      </p:sp>
      <p:sp>
        <p:nvSpPr>
          <p:cNvPr id="112" name="Google Shape;112;p15"/>
          <p:cNvSpPr txBox="1"/>
          <p:nvPr/>
        </p:nvSpPr>
        <p:spPr>
          <a:xfrm>
            <a:off x="914400" y="3724275"/>
            <a:ext cx="2806749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500" b="0" i="0" u="none" strike="noStrike" cap="none" noProof="0" dirty="0">
                <a:solidFill>
                  <a:srgbClr val="C9D1D9"/>
                </a:solidFill>
                <a:latin typeface="Lato"/>
                <a:ea typeface="Lato"/>
                <a:cs typeface="Lato"/>
                <a:sym typeface="Lato"/>
              </a:rPr>
              <a:t>Cada microservicio posee su propia base de datos, eliminando el acoplamiento y permitiendo tecnologías heterogéneas.</a:t>
            </a:r>
            <a:endParaRPr lang="es-CL" noProof="0" dirty="0"/>
          </a:p>
        </p:txBody>
      </p:sp>
      <p:sp>
        <p:nvSpPr>
          <p:cNvPr id="113" name="Google Shape;113;p15"/>
          <p:cNvSpPr txBox="1"/>
          <p:nvPr/>
        </p:nvSpPr>
        <p:spPr>
          <a:xfrm>
            <a:off x="4692699" y="3200400"/>
            <a:ext cx="2947087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1" i="0" u="none" strike="noStrike" cap="none" noProof="0" dirty="0">
                <a:solidFill>
                  <a:srgbClr val="10B981"/>
                </a:solidFill>
                <a:latin typeface="Poppins"/>
                <a:ea typeface="Poppins"/>
                <a:cs typeface="Poppins"/>
                <a:sym typeface="Poppins"/>
              </a:rPr>
              <a:t>Comunicación</a:t>
            </a:r>
            <a:endParaRPr lang="es-CL" noProof="0" dirty="0"/>
          </a:p>
        </p:txBody>
      </p:sp>
      <p:sp>
        <p:nvSpPr>
          <p:cNvPr id="114" name="Google Shape;114;p15"/>
          <p:cNvSpPr txBox="1"/>
          <p:nvPr/>
        </p:nvSpPr>
        <p:spPr>
          <a:xfrm>
            <a:off x="4692699" y="3724275"/>
            <a:ext cx="2806749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500" b="0" i="0" u="none" strike="noStrike" cap="none" noProof="0" dirty="0">
                <a:solidFill>
                  <a:srgbClr val="C9D1D9"/>
                </a:solidFill>
                <a:latin typeface="Lato"/>
                <a:ea typeface="Lato"/>
                <a:cs typeface="Lato"/>
                <a:sym typeface="Lato"/>
              </a:rPr>
              <a:t>Implementación de comunicación síncrona vía </a:t>
            </a:r>
            <a:r>
              <a:rPr lang="es-CL" sz="1500" b="0" i="0" u="none" strike="noStrike" cap="none" noProof="0" dirty="0" err="1">
                <a:solidFill>
                  <a:srgbClr val="C9D1D9"/>
                </a:solidFill>
                <a:latin typeface="Lato"/>
                <a:ea typeface="Lato"/>
                <a:cs typeface="Lato"/>
                <a:sym typeface="Lato"/>
              </a:rPr>
              <a:t>OpenFeign</a:t>
            </a:r>
            <a:r>
              <a:rPr lang="es-CL" sz="1500" b="0" i="0" u="none" strike="noStrike" cap="none" noProof="0" dirty="0">
                <a:solidFill>
                  <a:srgbClr val="C9D1D9"/>
                </a:solidFill>
                <a:latin typeface="Lato"/>
                <a:ea typeface="Lato"/>
                <a:cs typeface="Lato"/>
                <a:sym typeface="Lato"/>
              </a:rPr>
              <a:t> para flujos de validación en tiempo real (Stock/Órdenes).</a:t>
            </a:r>
            <a:endParaRPr lang="es-CL" noProof="0" dirty="0"/>
          </a:p>
        </p:txBody>
      </p:sp>
      <p:sp>
        <p:nvSpPr>
          <p:cNvPr id="115" name="Google Shape;115;p15"/>
          <p:cNvSpPr txBox="1"/>
          <p:nvPr/>
        </p:nvSpPr>
        <p:spPr>
          <a:xfrm>
            <a:off x="8470999" y="3200400"/>
            <a:ext cx="2947087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1" i="0" u="none" strike="noStrike" cap="none" noProof="0" dirty="0">
                <a:solidFill>
                  <a:srgbClr val="10B981"/>
                </a:solidFill>
                <a:latin typeface="Poppins"/>
                <a:ea typeface="Poppins"/>
                <a:cs typeface="Poppins"/>
                <a:sym typeface="Poppins"/>
              </a:rPr>
              <a:t>Resiliencia</a:t>
            </a:r>
            <a:endParaRPr lang="es-CL" noProof="0" dirty="0"/>
          </a:p>
        </p:txBody>
      </p:sp>
      <p:sp>
        <p:nvSpPr>
          <p:cNvPr id="116" name="Google Shape;116;p15"/>
          <p:cNvSpPr txBox="1"/>
          <p:nvPr/>
        </p:nvSpPr>
        <p:spPr>
          <a:xfrm>
            <a:off x="8470999" y="3724275"/>
            <a:ext cx="2806749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500" b="0" i="0" u="none" strike="noStrike" cap="none" noProof="0" dirty="0">
                <a:solidFill>
                  <a:srgbClr val="C9D1D9"/>
                </a:solidFill>
                <a:latin typeface="Lato"/>
                <a:ea typeface="Lato"/>
                <a:cs typeface="Lato"/>
                <a:sym typeface="Lato"/>
              </a:rPr>
              <a:t>Tolerancia a fallos mediante el aislamiento de fallos: si el servicio de Órdenes cae, el Catálogo sigue operativo.</a:t>
            </a:r>
            <a:endParaRPr lang="es-CL" noProof="0" dirty="0"/>
          </a:p>
        </p:txBody>
      </p:sp>
      <p:pic>
        <p:nvPicPr>
          <p:cNvPr id="117" name="Google Shape;117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14400" y="2590800"/>
            <a:ext cx="42862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15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692699" y="2590800"/>
            <a:ext cx="47625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5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470999" y="2590800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5"/>
          <p:cNvSpPr txBox="1"/>
          <p:nvPr/>
        </p:nvSpPr>
        <p:spPr>
          <a:xfrm>
            <a:off x="762000" y="571500"/>
            <a:ext cx="11401425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850" b="1" i="0" u="none" strike="noStrike" cap="none" noProof="0" dirty="0">
                <a:solidFill>
                  <a:srgbClr val="10B981"/>
                </a:solidFill>
                <a:latin typeface="Poppins"/>
                <a:ea typeface="Poppins"/>
                <a:cs typeface="Poppins"/>
                <a:sym typeface="Poppins"/>
              </a:rPr>
              <a:t>ARQUITECTURA DE MICROSERVICIOS</a:t>
            </a:r>
            <a:endParaRPr lang="es-CL" noProof="0" dirty="0"/>
          </a:p>
        </p:txBody>
      </p:sp>
      <p:sp>
        <p:nvSpPr>
          <p:cNvPr id="121" name="Google Shape;121;p15"/>
          <p:cNvSpPr/>
          <p:nvPr/>
        </p:nvSpPr>
        <p:spPr>
          <a:xfrm>
            <a:off x="571500" y="571500"/>
            <a:ext cx="57150" cy="54292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" name="Google Shape;126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/>
        </p:nvSpPr>
        <p:spPr>
          <a:xfrm>
            <a:off x="1087655" y="2492944"/>
            <a:ext cx="4817846" cy="29792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500" b="1" i="0" u="none" strike="noStrike" cap="none" noProof="0" dirty="0" err="1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Controller</a:t>
            </a:r>
            <a:r>
              <a:rPr lang="es-CL" sz="1500" b="1" i="0" u="none" strike="noStrike" cap="none" noProof="0" dirty="0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:</a:t>
            </a:r>
            <a:r>
              <a:rPr lang="es-CL" sz="1500" b="0" i="0" u="none" strike="noStrike" cap="none" noProof="0" dirty="0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 Puerta de entrada REST. Gestiona </a:t>
            </a:r>
            <a:r>
              <a:rPr lang="es-CL" sz="1500" b="0" i="0" u="none" strike="noStrike" cap="none" noProof="0" dirty="0" err="1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requests</a:t>
            </a:r>
            <a:r>
              <a:rPr lang="es-CL" sz="1500" b="0" i="0" u="none" strike="noStrike" cap="none" noProof="0" dirty="0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 y </a:t>
            </a:r>
            <a:r>
              <a:rPr lang="es-CL" sz="1500" b="0" i="0" u="none" strike="noStrike" cap="none" noProof="0" dirty="0" err="1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ResponseEntity</a:t>
            </a:r>
            <a:r>
              <a:rPr lang="es-CL" sz="1500" b="0" i="0" u="none" strike="noStrike" cap="none" noProof="0" dirty="0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 sin lógica de negocio.</a:t>
            </a:r>
          </a:p>
          <a:p>
            <a:pPr>
              <a:lnSpc>
                <a:spcPct val="160000"/>
              </a:lnSpc>
            </a:pPr>
            <a:r>
              <a:rPr lang="es-CL" sz="1600" b="1" dirty="0" err="1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Repository</a:t>
            </a:r>
            <a:r>
              <a:rPr lang="es-CL" sz="1600" b="1" dirty="0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:</a:t>
            </a:r>
            <a:r>
              <a:rPr lang="es-CL" sz="1600" dirty="0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 Abstracción de persistencia vía Spring Data JPA e </a:t>
            </a:r>
            <a:r>
              <a:rPr lang="es-CL" sz="1600" dirty="0" err="1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Hibernate</a:t>
            </a:r>
            <a:endParaRPr lang="es-CL" sz="1600" dirty="0">
              <a:solidFill>
                <a:schemeClr val="bg1"/>
              </a:solidFill>
            </a:endParaRPr>
          </a:p>
          <a:p>
            <a:pPr>
              <a:lnSpc>
                <a:spcPct val="160000"/>
              </a:lnSpc>
            </a:pPr>
            <a:r>
              <a:rPr lang="es-CL" sz="1500" b="1" dirty="0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Service:</a:t>
            </a:r>
            <a:r>
              <a:rPr lang="es-CL" sz="1500" dirty="0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 El núcleo del negocio. Aquí residen cálculos, reglas y llamadas remotas.</a:t>
            </a:r>
          </a:p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s-CL" sz="1500" b="0" i="0" u="none" strike="noStrike" cap="none" noProof="0" dirty="0">
              <a:solidFill>
                <a:srgbClr val="C9D1D9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s-CL" noProof="0" dirty="0"/>
          </a:p>
        </p:txBody>
      </p:sp>
      <p:pic>
        <p:nvPicPr>
          <p:cNvPr id="132" name="Google Shape;132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686050"/>
            <a:ext cx="2857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4037" y="4113631"/>
            <a:ext cx="200025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6"/>
          <p:cNvSpPr txBox="1"/>
          <p:nvPr/>
        </p:nvSpPr>
        <p:spPr>
          <a:xfrm>
            <a:off x="762000" y="571500"/>
            <a:ext cx="11401425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850" b="1" i="0" u="none" strike="noStrike" cap="none" noProof="0" dirty="0">
                <a:solidFill>
                  <a:srgbClr val="10B981"/>
                </a:solidFill>
                <a:latin typeface="Poppins"/>
                <a:ea typeface="Poppins"/>
                <a:cs typeface="Poppins"/>
                <a:sym typeface="Poppins"/>
              </a:rPr>
              <a:t>PATRÓN CSR: ESTRUCTURA DE CÓDIGO</a:t>
            </a:r>
            <a:endParaRPr lang="es-CL" noProof="0" dirty="0"/>
          </a:p>
        </p:txBody>
      </p:sp>
      <p:sp>
        <p:nvSpPr>
          <p:cNvPr id="136" name="Google Shape;136;p16"/>
          <p:cNvSpPr/>
          <p:nvPr/>
        </p:nvSpPr>
        <p:spPr>
          <a:xfrm>
            <a:off x="571500" y="571500"/>
            <a:ext cx="57150" cy="54292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Google Shape;133;p16" descr="image.png">
            <a:extLst>
              <a:ext uri="{FF2B5EF4-FFF2-40B4-BE49-F238E27FC236}">
                <a16:creationId xmlns:a16="http://schemas.microsoft.com/office/drawing/2014/main" id="{36FF28FD-71D0-F99C-9EC7-D0A6B59FC3C4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90851" y="3356267"/>
            <a:ext cx="266399" cy="304491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6FB98A89-495F-63F0-8AB0-EDF957D3921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28059" y="1611781"/>
            <a:ext cx="5171473" cy="467471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1" name="Google Shape;141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5329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17"/>
          <p:cNvSpPr txBox="1"/>
          <p:nvPr/>
        </p:nvSpPr>
        <p:spPr>
          <a:xfrm>
            <a:off x="571500" y="571500"/>
            <a:ext cx="5200650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850" b="1" i="0" u="none" strike="noStrike" cap="none" noProof="0" dirty="0">
                <a:solidFill>
                  <a:srgbClr val="10B981"/>
                </a:solidFill>
                <a:latin typeface="Poppins"/>
                <a:ea typeface="Poppins"/>
                <a:cs typeface="Poppins"/>
                <a:sym typeface="Poppins"/>
              </a:rPr>
              <a:t>PERSISTENCIA JPA</a:t>
            </a:r>
            <a:endParaRPr lang="es-CL" noProof="0" dirty="0"/>
          </a:p>
        </p:txBody>
      </p:sp>
      <p:sp>
        <p:nvSpPr>
          <p:cNvPr id="144" name="Google Shape;144;p17"/>
          <p:cNvSpPr txBox="1"/>
          <p:nvPr/>
        </p:nvSpPr>
        <p:spPr>
          <a:xfrm>
            <a:off x="571500" y="2576512"/>
            <a:ext cx="52006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4" b="1" i="0" u="none" strike="noStrike" cap="none" noProof="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Modelado Relacional</a:t>
            </a:r>
            <a:endParaRPr lang="es-CL" noProof="0" dirty="0"/>
          </a:p>
        </p:txBody>
      </p:sp>
      <p:sp>
        <p:nvSpPr>
          <p:cNvPr id="145" name="Google Shape;145;p17"/>
          <p:cNvSpPr txBox="1"/>
          <p:nvPr/>
        </p:nvSpPr>
        <p:spPr>
          <a:xfrm>
            <a:off x="571500" y="3043237"/>
            <a:ext cx="495300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500" b="0" i="0" u="none" strike="noStrike" cap="none" noProof="0" dirty="0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Mapeo de entidades con </a:t>
            </a:r>
            <a:r>
              <a:rPr lang="es-CL" sz="1500" b="0" i="0" u="none" strike="noStrike" cap="none" noProof="0" dirty="0" err="1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Hibernate</a:t>
            </a:r>
            <a:r>
              <a:rPr lang="es-CL" sz="1500" b="0" i="0" u="none" strike="noStrike" cap="none" noProof="0" dirty="0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 para asegurar integridad referencial y propagación en cascada eficiente</a:t>
            </a:r>
            <a:r>
              <a:rPr lang="es-CL" sz="1500" b="0" i="0" u="none" strike="noStrike" cap="none" noProof="0" dirty="0">
                <a:solidFill>
                  <a:srgbClr val="C9D1D9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lang="es-CL" noProof="0" dirty="0"/>
          </a:p>
        </p:txBody>
      </p:sp>
      <p:sp>
        <p:nvSpPr>
          <p:cNvPr id="146" name="Google Shape;146;p17"/>
          <p:cNvSpPr txBox="1"/>
          <p:nvPr/>
        </p:nvSpPr>
        <p:spPr>
          <a:xfrm>
            <a:off x="571500" y="4033837"/>
            <a:ext cx="4953000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500" b="1" i="0" u="none" strike="noStrike" cap="none" noProof="0" dirty="0">
                <a:solidFill>
                  <a:srgbClr val="C9D1D9"/>
                </a:solidFill>
                <a:latin typeface="Lato"/>
                <a:ea typeface="Lato"/>
                <a:cs typeface="Lato"/>
                <a:sym typeface="Lato"/>
              </a:rPr>
              <a:t>@</a:t>
            </a:r>
            <a:r>
              <a:rPr lang="es-CL" sz="1500" b="1" i="0" u="none" strike="noStrike" cap="none" noProof="0" dirty="0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OneToMany</a:t>
            </a:r>
            <a:r>
              <a:rPr lang="es-CL" sz="1500" b="0" i="0" u="none" strike="noStrike" cap="none" noProof="0" dirty="0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 y </a:t>
            </a:r>
            <a:r>
              <a:rPr lang="es-CL" sz="1500" b="1" i="0" u="none" strike="noStrike" cap="none" noProof="0" dirty="0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@ManyToOne</a:t>
            </a:r>
            <a:r>
              <a:rPr lang="es-CL" sz="1500" b="0" i="0" u="none" strike="noStrike" cap="none" noProof="0" dirty="0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 se utilizan en el flujo de Órdenes para vincular cabeceras y detalles de forma consistente en BD.</a:t>
            </a:r>
            <a:endParaRPr lang="es-CL" noProof="0" dirty="0">
              <a:solidFill>
                <a:schemeClr val="bg1"/>
              </a:solidFill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697FF148-D70F-C09F-AF62-88198E3FBA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73920" y="505302"/>
            <a:ext cx="5461800" cy="761700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C22F250C-4EFE-B814-10F0-6D9BBBEEC03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78237" y="1470231"/>
            <a:ext cx="4853165" cy="863267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3ACB027F-D49E-8BA7-D9AD-1FC0310271FB}"/>
              </a:ext>
            </a:extLst>
          </p:cNvPr>
          <p:cNvSpPr txBox="1"/>
          <p:nvPr/>
        </p:nvSpPr>
        <p:spPr>
          <a:xfrm>
            <a:off x="8276874" y="129941"/>
            <a:ext cx="17526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Orden </a:t>
            </a:r>
            <a:r>
              <a:rPr lang="es-MX" dirty="0" err="1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Database</a:t>
            </a:r>
            <a:endParaRPr lang="es-CL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1BBA3EB1-1691-762C-2634-3F6CE5C7F7F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34850" y="2794743"/>
            <a:ext cx="6341821" cy="726758"/>
          </a:xfrm>
          <a:prstGeom prst="rect">
            <a:avLst/>
          </a:prstGeom>
        </p:spPr>
      </p:pic>
      <p:sp>
        <p:nvSpPr>
          <p:cNvPr id="11" name="CuadroTexto 10">
            <a:extLst>
              <a:ext uri="{FF2B5EF4-FFF2-40B4-BE49-F238E27FC236}">
                <a16:creationId xmlns:a16="http://schemas.microsoft.com/office/drawing/2014/main" id="{3B7F0B03-EE57-CF7C-0F2A-D18AAC571757}"/>
              </a:ext>
            </a:extLst>
          </p:cNvPr>
          <p:cNvSpPr txBox="1"/>
          <p:nvPr/>
        </p:nvSpPr>
        <p:spPr>
          <a:xfrm>
            <a:off x="7735990" y="2427743"/>
            <a:ext cx="213766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 err="1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Categories</a:t>
            </a:r>
            <a:r>
              <a:rPr lang="es-MX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s-MX" dirty="0" err="1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Database</a:t>
            </a:r>
            <a:endParaRPr lang="es-CL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F6080C80-815C-03C8-7ED8-EF2F3F463C8B}"/>
              </a:ext>
            </a:extLst>
          </p:cNvPr>
          <p:cNvSpPr txBox="1"/>
          <p:nvPr/>
        </p:nvSpPr>
        <p:spPr>
          <a:xfrm>
            <a:off x="7635816" y="3782921"/>
            <a:ext cx="213766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 err="1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Inventory</a:t>
            </a:r>
            <a:r>
              <a:rPr lang="es-MX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s-MX" dirty="0" err="1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Database</a:t>
            </a:r>
            <a:endParaRPr lang="es-CL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16" name="Imagen 15">
            <a:extLst>
              <a:ext uri="{FF2B5EF4-FFF2-40B4-BE49-F238E27FC236}">
                <a16:creationId xmlns:a16="http://schemas.microsoft.com/office/drawing/2014/main" id="{405BD61D-0494-00C9-E0AE-006839B1511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56048" y="4197607"/>
            <a:ext cx="6520623" cy="823395"/>
          </a:xfrm>
          <a:prstGeom prst="rect">
            <a:avLst/>
          </a:prstGeom>
        </p:spPr>
      </p:pic>
      <p:pic>
        <p:nvPicPr>
          <p:cNvPr id="18" name="Imagen 17">
            <a:extLst>
              <a:ext uri="{FF2B5EF4-FFF2-40B4-BE49-F238E27FC236}">
                <a16:creationId xmlns:a16="http://schemas.microsoft.com/office/drawing/2014/main" id="{6A5D5A52-B433-CF5B-4FE8-8E1CAB7C0A8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80671" y="5194814"/>
            <a:ext cx="5667375" cy="133629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1" name="Google Shape;151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28575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18"/>
          <p:cNvSpPr txBox="1"/>
          <p:nvPr/>
        </p:nvSpPr>
        <p:spPr>
          <a:xfrm>
            <a:off x="6286500" y="2395537"/>
            <a:ext cx="560070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4" b="1" i="0" u="none" strike="noStrike" cap="none" noProof="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Bean </a:t>
            </a:r>
            <a:r>
              <a:rPr lang="es-CL" sz="1404" b="1" i="0" u="none" strike="noStrike" cap="none" noProof="0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Validation</a:t>
            </a:r>
            <a:r>
              <a:rPr lang="es-CL" sz="1404" b="1" i="0" u="none" strike="noStrike" cap="none" noProof="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(JSR 380)</a:t>
            </a:r>
            <a:endParaRPr lang="es-CL" noProof="0" dirty="0"/>
          </a:p>
        </p:txBody>
      </p:sp>
      <p:sp>
        <p:nvSpPr>
          <p:cNvPr id="155" name="Google Shape;155;p18"/>
          <p:cNvSpPr txBox="1"/>
          <p:nvPr/>
        </p:nvSpPr>
        <p:spPr>
          <a:xfrm>
            <a:off x="6286500" y="2862262"/>
            <a:ext cx="533400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500" b="0" i="0" u="none" strike="noStrike" cap="none" noProof="0" dirty="0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Uso de anotaciones en </a:t>
            </a:r>
            <a:r>
              <a:rPr lang="es-CL" sz="1500" b="0" i="0" u="none" strike="noStrike" cap="none" noProof="0" dirty="0" err="1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DTOs</a:t>
            </a:r>
            <a:r>
              <a:rPr lang="es-CL" sz="1500" b="0" i="0" u="none" strike="noStrike" cap="none" noProof="0" dirty="0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 para filtrar entradas inválidas antes de procesar el negocio.</a:t>
            </a:r>
            <a:endParaRPr lang="es-CL" noProof="0" dirty="0">
              <a:solidFill>
                <a:schemeClr val="bg1"/>
              </a:solidFill>
            </a:endParaRPr>
          </a:p>
        </p:txBody>
      </p:sp>
      <p:sp>
        <p:nvSpPr>
          <p:cNvPr id="156" name="Google Shape;156;p18"/>
          <p:cNvSpPr txBox="1"/>
          <p:nvPr/>
        </p:nvSpPr>
        <p:spPr>
          <a:xfrm>
            <a:off x="6715125" y="3662362"/>
            <a:ext cx="490537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500" b="1" i="0" u="none" strike="noStrike" cap="none" noProof="0" dirty="0">
                <a:solidFill>
                  <a:srgbClr val="C9D1D9"/>
                </a:solidFill>
                <a:latin typeface="Lato"/>
                <a:ea typeface="Lato"/>
                <a:cs typeface="Lato"/>
                <a:sym typeface="Lato"/>
              </a:rPr>
              <a:t>@</a:t>
            </a:r>
            <a:r>
              <a:rPr lang="es-CL" sz="1500" b="1" i="0" u="none" strike="noStrike" cap="none" noProof="0" dirty="0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NotBlank:</a:t>
            </a:r>
            <a:r>
              <a:rPr lang="es-CL" sz="1500" b="0" i="0" u="none" strike="noStrike" cap="none" noProof="0" dirty="0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 Evita campos vacíos.</a:t>
            </a:r>
            <a:endParaRPr lang="es-CL" noProof="0" dirty="0">
              <a:solidFill>
                <a:schemeClr val="bg1"/>
              </a:solidFill>
            </a:endParaRPr>
          </a:p>
        </p:txBody>
      </p:sp>
      <p:sp>
        <p:nvSpPr>
          <p:cNvPr id="157" name="Google Shape;157;p18"/>
          <p:cNvSpPr txBox="1"/>
          <p:nvPr/>
        </p:nvSpPr>
        <p:spPr>
          <a:xfrm>
            <a:off x="6715125" y="4205287"/>
            <a:ext cx="490537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500" b="1" i="0" u="none" strike="noStrike" cap="none" noProof="0" dirty="0">
                <a:solidFill>
                  <a:srgbClr val="C9D1D9"/>
                </a:solidFill>
                <a:latin typeface="Lato"/>
                <a:ea typeface="Lato"/>
                <a:cs typeface="Lato"/>
                <a:sym typeface="Lato"/>
              </a:rPr>
              <a:t>@</a:t>
            </a:r>
            <a:r>
              <a:rPr lang="es-CL" sz="1500" b="1" i="0" u="none" strike="noStrike" cap="none" noProof="0" dirty="0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Positive:</a:t>
            </a:r>
            <a:r>
              <a:rPr lang="es-CL" sz="1500" b="0" i="0" u="none" strike="noStrike" cap="none" noProof="0" dirty="0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 Asegura precios válidos</a:t>
            </a:r>
            <a:r>
              <a:rPr lang="es-CL" sz="1500" b="0" i="0" u="none" strike="noStrike" cap="none" noProof="0" dirty="0">
                <a:solidFill>
                  <a:srgbClr val="C9D1D9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lang="es-CL" noProof="0" dirty="0"/>
          </a:p>
        </p:txBody>
      </p:sp>
      <p:sp>
        <p:nvSpPr>
          <p:cNvPr id="158" name="Google Shape;158;p18"/>
          <p:cNvSpPr txBox="1"/>
          <p:nvPr/>
        </p:nvSpPr>
        <p:spPr>
          <a:xfrm>
            <a:off x="6715125" y="4748212"/>
            <a:ext cx="490537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500" b="1" i="0" u="none" strike="noStrike" cap="none" noProof="0" dirty="0">
                <a:solidFill>
                  <a:srgbClr val="C9D1D9"/>
                </a:solidFill>
                <a:latin typeface="Lato"/>
                <a:ea typeface="Lato"/>
                <a:cs typeface="Lato"/>
                <a:sym typeface="Lato"/>
              </a:rPr>
              <a:t>@</a:t>
            </a:r>
            <a:r>
              <a:rPr lang="es-CL" sz="1500" b="1" i="0" u="none" strike="noStrike" cap="none" noProof="0" dirty="0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Size:</a:t>
            </a:r>
            <a:r>
              <a:rPr lang="es-CL" sz="1500" b="0" i="0" u="none" strike="noStrike" cap="none" noProof="0" dirty="0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 Restringe longitud de textos.</a:t>
            </a:r>
            <a:endParaRPr lang="es-CL" noProof="0" dirty="0">
              <a:solidFill>
                <a:schemeClr val="bg1"/>
              </a:solidFill>
            </a:endParaRPr>
          </a:p>
        </p:txBody>
      </p:sp>
      <p:pic>
        <p:nvPicPr>
          <p:cNvPr id="159" name="Google Shape;159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3700462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4243387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4786312"/>
            <a:ext cx="22860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8"/>
          <p:cNvSpPr txBox="1"/>
          <p:nvPr/>
        </p:nvSpPr>
        <p:spPr>
          <a:xfrm>
            <a:off x="762000" y="571500"/>
            <a:ext cx="11401425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850" b="1" i="0" u="none" strike="noStrike" cap="none" noProof="0" dirty="0">
                <a:solidFill>
                  <a:srgbClr val="10B981"/>
                </a:solidFill>
                <a:latin typeface="Poppins"/>
                <a:ea typeface="Poppins"/>
                <a:cs typeface="Poppins"/>
                <a:sym typeface="Poppins"/>
              </a:rPr>
              <a:t>SEGURIDAD DE DATOS: VALIDATION</a:t>
            </a:r>
            <a:endParaRPr lang="es-CL" noProof="0" dirty="0"/>
          </a:p>
        </p:txBody>
      </p:sp>
      <p:sp>
        <p:nvSpPr>
          <p:cNvPr id="163" name="Google Shape;163;p18"/>
          <p:cNvSpPr/>
          <p:nvPr/>
        </p:nvSpPr>
        <p:spPr>
          <a:xfrm>
            <a:off x="571500" y="571500"/>
            <a:ext cx="57150" cy="54292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127253AC-B79F-BA6F-2660-51CA5AE42F9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6939" y="2309856"/>
            <a:ext cx="5244048" cy="302886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8" name="Google Shape;168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19"/>
          <p:cNvSpPr txBox="1"/>
          <p:nvPr/>
        </p:nvSpPr>
        <p:spPr>
          <a:xfrm>
            <a:off x="6671510" y="815654"/>
            <a:ext cx="560070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4" b="1" i="0" u="none" strike="noStrike" cap="none" noProof="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@RestControllerAdvice</a:t>
            </a:r>
            <a:endParaRPr lang="es-CL" noProof="0" dirty="0"/>
          </a:p>
        </p:txBody>
      </p:sp>
      <p:sp>
        <p:nvSpPr>
          <p:cNvPr id="172" name="Google Shape;172;p19"/>
          <p:cNvSpPr txBox="1"/>
          <p:nvPr/>
        </p:nvSpPr>
        <p:spPr>
          <a:xfrm>
            <a:off x="6671510" y="1091879"/>
            <a:ext cx="533400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500" b="0" i="0" u="none" strike="noStrike" cap="none" noProof="0" dirty="0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Interceptamos excepciones globales para retornar códigos HTTP semánticos (400, 404, 500).</a:t>
            </a:r>
            <a:endParaRPr lang="es-CL" noProof="0" dirty="0">
              <a:solidFill>
                <a:schemeClr val="bg1"/>
              </a:solidFill>
            </a:endParaRPr>
          </a:p>
        </p:txBody>
      </p:sp>
      <p:sp>
        <p:nvSpPr>
          <p:cNvPr id="173" name="Google Shape;173;p19"/>
          <p:cNvSpPr txBox="1"/>
          <p:nvPr/>
        </p:nvSpPr>
        <p:spPr>
          <a:xfrm>
            <a:off x="6671510" y="1830543"/>
            <a:ext cx="533400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500" b="0" i="0" u="none" strike="noStrike" cap="none" noProof="0" dirty="0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Esto permite que el cliente reciba un mensaje amigable y trazable en lugar de un error interno del servidor.</a:t>
            </a:r>
            <a:endParaRPr lang="es-CL" noProof="0" dirty="0">
              <a:solidFill>
                <a:schemeClr val="bg1"/>
              </a:solidFill>
            </a:endParaRPr>
          </a:p>
        </p:txBody>
      </p:sp>
      <p:sp>
        <p:nvSpPr>
          <p:cNvPr id="174" name="Google Shape;174;p19"/>
          <p:cNvSpPr txBox="1"/>
          <p:nvPr/>
        </p:nvSpPr>
        <p:spPr>
          <a:xfrm>
            <a:off x="2090286" y="117809"/>
            <a:ext cx="11401425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850" b="1" i="0" u="none" strike="noStrike" cap="none" noProof="0" dirty="0">
                <a:solidFill>
                  <a:srgbClr val="10B981"/>
                </a:solidFill>
                <a:latin typeface="Poppins"/>
                <a:ea typeface="Poppins"/>
                <a:cs typeface="Poppins"/>
                <a:sym typeface="Poppins"/>
              </a:rPr>
              <a:t>MANEJO CENTRALIZADO DE ERRORES</a:t>
            </a:r>
            <a:endParaRPr lang="es-CL" noProof="0" dirty="0"/>
          </a:p>
        </p:txBody>
      </p:sp>
      <p:sp>
        <p:nvSpPr>
          <p:cNvPr id="175" name="Google Shape;175;p19"/>
          <p:cNvSpPr/>
          <p:nvPr/>
        </p:nvSpPr>
        <p:spPr>
          <a:xfrm>
            <a:off x="1890161" y="73192"/>
            <a:ext cx="57150" cy="54292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149EE55D-77BB-049C-CFD9-31C5515D7D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0013" y="850610"/>
            <a:ext cx="4817810" cy="2159399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002B9D58-792F-F4B4-50BE-00BB7BED5CA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9337" y="3429000"/>
            <a:ext cx="5599162" cy="2899924"/>
          </a:xfrm>
          <a:prstGeom prst="rect">
            <a:avLst/>
          </a:prstGeom>
        </p:spPr>
      </p:pic>
      <p:sp>
        <p:nvSpPr>
          <p:cNvPr id="11" name="CuadroTexto 10">
            <a:extLst>
              <a:ext uri="{FF2B5EF4-FFF2-40B4-BE49-F238E27FC236}">
                <a16:creationId xmlns:a16="http://schemas.microsoft.com/office/drawing/2014/main" id="{33E8C9D2-09A7-562F-B8B1-2925BB56569F}"/>
              </a:ext>
            </a:extLst>
          </p:cNvPr>
          <p:cNvSpPr txBox="1"/>
          <p:nvPr/>
        </p:nvSpPr>
        <p:spPr>
          <a:xfrm>
            <a:off x="6572801" y="3084289"/>
            <a:ext cx="4128035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Ejemplo en Postman:</a:t>
            </a:r>
            <a:r>
              <a:rPr lang="es-CL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</a:p>
          <a:p>
            <a:r>
              <a:rPr lang="es-CL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Al enviar un dato erróneo a propósito en las pruebas</a:t>
            </a:r>
          </a:p>
          <a:p>
            <a:endParaRPr lang="es-CL" dirty="0">
              <a:solidFill>
                <a:schemeClr val="bg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r>
              <a:rPr lang="es-CL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el </a:t>
            </a:r>
            <a:r>
              <a:rPr lang="es-CL" dirty="0" err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backend</a:t>
            </a:r>
            <a:r>
              <a:rPr lang="es-CL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responde automáticamente con un código </a:t>
            </a:r>
            <a:r>
              <a:rPr lang="es-CL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400 Bad </a:t>
            </a:r>
            <a:r>
              <a:rPr lang="es-CL" b="1" dirty="0" err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Request</a:t>
            </a:r>
            <a:r>
              <a:rPr lang="es-CL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junto a un JSON.</a:t>
            </a:r>
          </a:p>
          <a:p>
            <a:endParaRPr lang="es-CL" dirty="0">
              <a:solidFill>
                <a:schemeClr val="bg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r>
              <a:rPr lang="es-CL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Que le explica detalladamente al cliente qué campo falló y por qué.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0" name="Google Shape;180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8575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400175"/>
            <a:ext cx="4697429" cy="3362325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20"/>
          <p:cNvSpPr txBox="1"/>
          <p:nvPr/>
        </p:nvSpPr>
        <p:spPr>
          <a:xfrm>
            <a:off x="914400" y="1743075"/>
            <a:ext cx="10881360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1" i="0" u="none" strike="noStrike" cap="none" noProof="0" dirty="0">
                <a:solidFill>
                  <a:srgbClr val="10B981"/>
                </a:solidFill>
                <a:latin typeface="Poppins"/>
                <a:ea typeface="Poppins"/>
                <a:cs typeface="Poppins"/>
                <a:sym typeface="Poppins"/>
              </a:rPr>
              <a:t>Flujo de Validación de Stock</a:t>
            </a:r>
            <a:endParaRPr lang="es-CL" noProof="0" dirty="0"/>
          </a:p>
        </p:txBody>
      </p:sp>
      <p:sp>
        <p:nvSpPr>
          <p:cNvPr id="183" name="Google Shape;183;p20"/>
          <p:cNvSpPr txBox="1"/>
          <p:nvPr/>
        </p:nvSpPr>
        <p:spPr>
          <a:xfrm>
            <a:off x="914400" y="2266950"/>
            <a:ext cx="3330341" cy="1969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R="0" lvl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lang="es-CL" sz="1600" b="0" i="0" u="none" strike="noStrike" cap="none" noProof="0" dirty="0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1. </a:t>
            </a:r>
            <a:r>
              <a:rPr lang="es-CL" sz="1600" b="0" i="0" u="none" strike="noStrike" cap="none" noProof="0" dirty="0" err="1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Order</a:t>
            </a:r>
            <a:r>
              <a:rPr lang="es-CL" sz="1600" b="0" i="0" u="none" strike="noStrike" cap="none" noProof="0" dirty="0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 Service recibe pedido → </a:t>
            </a:r>
          </a:p>
          <a:p>
            <a:pPr marR="0" lvl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lang="es-CL" sz="1600" b="0" i="0" u="none" strike="noStrike" cap="none" noProof="0" dirty="0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2. Llama a </a:t>
            </a:r>
            <a:r>
              <a:rPr lang="es-CL" sz="1600" b="0" i="0" u="none" strike="noStrike" cap="none" noProof="0" dirty="0" err="1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Inventory</a:t>
            </a:r>
            <a:r>
              <a:rPr lang="es-CL" sz="1600" b="0" i="0" u="none" strike="noStrike" cap="none" noProof="0" dirty="0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 Service vía </a:t>
            </a:r>
            <a:r>
              <a:rPr lang="es-CL" sz="1600" b="0" i="0" u="none" strike="noStrike" cap="none" noProof="0" dirty="0" err="1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Feign</a:t>
            </a:r>
            <a:r>
              <a:rPr lang="es-CL" sz="1600" b="0" i="0" u="none" strike="noStrike" cap="none" noProof="0" dirty="0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 →</a:t>
            </a:r>
          </a:p>
          <a:p>
            <a:pPr marR="0" lvl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lang="es-CL" sz="1600" dirty="0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3</a:t>
            </a:r>
            <a:r>
              <a:rPr lang="es-CL" sz="1600" b="0" i="0" u="none" strike="noStrike" cap="none" noProof="0" dirty="0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. Valida disponibilidad → </a:t>
            </a:r>
          </a:p>
          <a:p>
            <a:pPr marR="0" lvl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lang="es-CL" sz="1600" b="0" i="0" u="none" strike="noStrike" cap="none" noProof="0" dirty="0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4. Confirma creación de Orden.</a:t>
            </a:r>
            <a:endParaRPr lang="es-CL" noProof="0" dirty="0">
              <a:solidFill>
                <a:schemeClr val="bg1"/>
              </a:solidFill>
            </a:endParaRPr>
          </a:p>
        </p:txBody>
      </p:sp>
      <p:sp>
        <p:nvSpPr>
          <p:cNvPr id="184" name="Google Shape;184;p20"/>
          <p:cNvSpPr txBox="1"/>
          <p:nvPr/>
        </p:nvSpPr>
        <p:spPr>
          <a:xfrm>
            <a:off x="685800" y="5189159"/>
            <a:ext cx="1062037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500" b="1" i="0" u="none" strike="noStrike" cap="none" noProof="0" dirty="0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Clientes Declarativos:</a:t>
            </a:r>
            <a:r>
              <a:rPr lang="es-CL" sz="1500" b="0" i="0" u="none" strike="noStrike" cap="none" noProof="0" dirty="0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 Interfaces limpias sin código de bajo nivel.</a:t>
            </a:r>
            <a:endParaRPr lang="es-CL" noProof="0" dirty="0">
              <a:solidFill>
                <a:schemeClr val="bg1"/>
              </a:solidFill>
            </a:endParaRPr>
          </a:p>
        </p:txBody>
      </p:sp>
      <p:sp>
        <p:nvSpPr>
          <p:cNvPr id="185" name="Google Shape;185;p20"/>
          <p:cNvSpPr txBox="1"/>
          <p:nvPr/>
        </p:nvSpPr>
        <p:spPr>
          <a:xfrm>
            <a:off x="685799" y="5764856"/>
            <a:ext cx="1062037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500" b="1" i="0" u="none" strike="noStrike" cap="none" noProof="0" dirty="0" err="1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Timeouts</a:t>
            </a:r>
            <a:r>
              <a:rPr lang="es-CL" sz="1500" b="1" i="0" u="none" strike="noStrike" cap="none" noProof="0" dirty="0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:</a:t>
            </a:r>
            <a:r>
              <a:rPr lang="es-CL" sz="1500" b="0" i="0" u="none" strike="noStrike" cap="none" noProof="0" dirty="0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 Prevención de bloqueos en cascada ante servicios lentos</a:t>
            </a:r>
            <a:r>
              <a:rPr lang="es-CL" sz="1500" b="0" i="0" u="none" strike="noStrike" cap="none" noProof="0" dirty="0">
                <a:solidFill>
                  <a:srgbClr val="C9D1D9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lang="es-CL" noProof="0" dirty="0"/>
          </a:p>
        </p:txBody>
      </p:sp>
      <p:pic>
        <p:nvPicPr>
          <p:cNvPr id="186" name="Google Shape;186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88469" y="5262060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2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59894" y="5804416"/>
            <a:ext cx="22860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20"/>
          <p:cNvSpPr txBox="1"/>
          <p:nvPr/>
        </p:nvSpPr>
        <p:spPr>
          <a:xfrm>
            <a:off x="2579570" y="202168"/>
            <a:ext cx="11401425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850" b="1" i="0" u="none" strike="noStrike" cap="none" noProof="0" dirty="0">
                <a:solidFill>
                  <a:srgbClr val="10B981"/>
                </a:solidFill>
                <a:latin typeface="Poppins"/>
                <a:ea typeface="Poppins"/>
                <a:cs typeface="Poppins"/>
                <a:sym typeface="Poppins"/>
              </a:rPr>
              <a:t>COMUNICACIÓN CON OPENFEIGN</a:t>
            </a:r>
            <a:endParaRPr lang="es-CL" noProof="0" dirty="0"/>
          </a:p>
        </p:txBody>
      </p:sp>
      <p:sp>
        <p:nvSpPr>
          <p:cNvPr id="189" name="Google Shape;189;p20"/>
          <p:cNvSpPr/>
          <p:nvPr/>
        </p:nvSpPr>
        <p:spPr>
          <a:xfrm>
            <a:off x="2323298" y="157162"/>
            <a:ext cx="57150" cy="54292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899B57DA-76E1-3E6F-3A04-00B14CCA7A7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85550" y="1419726"/>
            <a:ext cx="6122617" cy="2132597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918BDB0C-F9DE-AB0F-BA7B-A89E39E2710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55080" y="4032518"/>
            <a:ext cx="5203357" cy="1403279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664D09D4-2DB8-C63B-FDB8-DC2466A84C1B}"/>
              </a:ext>
            </a:extLst>
          </p:cNvPr>
          <p:cNvSpPr txBox="1"/>
          <p:nvPr/>
        </p:nvSpPr>
        <p:spPr>
          <a:xfrm>
            <a:off x="7526956" y="906447"/>
            <a:ext cx="221381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 err="1">
                <a:solidFill>
                  <a:schemeClr val="bg1"/>
                </a:solidFill>
              </a:rPr>
              <a:t>OpenFeign</a:t>
            </a:r>
            <a:r>
              <a:rPr lang="es-MX" dirty="0">
                <a:solidFill>
                  <a:schemeClr val="bg1"/>
                </a:solidFill>
              </a:rPr>
              <a:t> </a:t>
            </a:r>
            <a:r>
              <a:rPr lang="es-MX" dirty="0" err="1">
                <a:solidFill>
                  <a:schemeClr val="bg1"/>
                </a:solidFill>
              </a:rPr>
              <a:t>Order</a:t>
            </a:r>
            <a:endParaRPr lang="es-CL" dirty="0">
              <a:solidFill>
                <a:schemeClr val="bg1"/>
              </a:solidFill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DAA9CB77-ECA4-604D-5EB1-F67BC4C9271E}"/>
              </a:ext>
            </a:extLst>
          </p:cNvPr>
          <p:cNvSpPr txBox="1"/>
          <p:nvPr/>
        </p:nvSpPr>
        <p:spPr>
          <a:xfrm>
            <a:off x="7984331" y="3638532"/>
            <a:ext cx="9625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 err="1">
                <a:solidFill>
                  <a:schemeClr val="bg1"/>
                </a:solidFill>
              </a:rPr>
              <a:t>Mapping</a:t>
            </a:r>
            <a:endParaRPr lang="es-CL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" name="Google Shape;194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21"/>
          <p:cNvSpPr txBox="1"/>
          <p:nvPr/>
        </p:nvSpPr>
        <p:spPr>
          <a:xfrm>
            <a:off x="571500" y="2809875"/>
            <a:ext cx="560070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4" b="1" i="0" u="none" strike="noStrike" cap="none" noProof="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Logs Estratégicos</a:t>
            </a:r>
            <a:endParaRPr lang="es-CL" noProof="0" dirty="0"/>
          </a:p>
        </p:txBody>
      </p:sp>
      <p:sp>
        <p:nvSpPr>
          <p:cNvPr id="197" name="Google Shape;197;p21"/>
          <p:cNvSpPr txBox="1"/>
          <p:nvPr/>
        </p:nvSpPr>
        <p:spPr>
          <a:xfrm>
            <a:off x="571500" y="3276600"/>
            <a:ext cx="53340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500" b="0" i="0" u="none" strike="noStrike" cap="none" noProof="0" dirty="0">
                <a:solidFill>
                  <a:srgbClr val="C9D1D9"/>
                </a:solidFill>
                <a:latin typeface="Lato"/>
                <a:ea typeface="Lato"/>
                <a:cs typeface="Lato"/>
                <a:sym typeface="Lato"/>
              </a:rPr>
              <a:t>Implementación de </a:t>
            </a:r>
            <a:r>
              <a:rPr lang="es-CL" sz="1500" b="0" i="0" u="none" strike="noStrike" cap="none" noProof="0" dirty="0" err="1">
                <a:solidFill>
                  <a:srgbClr val="C9D1D9"/>
                </a:solidFill>
                <a:latin typeface="Lato"/>
                <a:ea typeface="Lato"/>
                <a:cs typeface="Lato"/>
                <a:sym typeface="Lato"/>
              </a:rPr>
              <a:t>logging</a:t>
            </a:r>
            <a:r>
              <a:rPr lang="es-CL" sz="1500" b="0" i="0" u="none" strike="noStrike" cap="none" noProof="0" dirty="0">
                <a:solidFill>
                  <a:srgbClr val="C9D1D9"/>
                </a:solidFill>
                <a:latin typeface="Lato"/>
                <a:ea typeface="Lato"/>
                <a:cs typeface="Lato"/>
                <a:sym typeface="Lato"/>
              </a:rPr>
              <a:t> en capas de servicio para reconstruir el rastro de las transacciones distribuidas.</a:t>
            </a:r>
            <a:endParaRPr lang="es-CL" noProof="0" dirty="0"/>
          </a:p>
        </p:txBody>
      </p:sp>
      <p:sp>
        <p:nvSpPr>
          <p:cNvPr id="198" name="Google Shape;198;p21"/>
          <p:cNvSpPr txBox="1"/>
          <p:nvPr/>
        </p:nvSpPr>
        <p:spPr>
          <a:xfrm>
            <a:off x="571500" y="4076700"/>
            <a:ext cx="53340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500" b="0" i="0" u="none" strike="noStrike" cap="none" noProof="0" dirty="0">
                <a:solidFill>
                  <a:srgbClr val="C9D1D9"/>
                </a:solidFill>
                <a:latin typeface="Lato"/>
                <a:ea typeface="Lato"/>
                <a:cs typeface="Lato"/>
                <a:sym typeface="Lato"/>
              </a:rPr>
              <a:t>Permite identificar fallas críticas y comportamientos del usuario de forma inmediata en consola.</a:t>
            </a:r>
            <a:endParaRPr lang="es-CL" noProof="0" dirty="0"/>
          </a:p>
        </p:txBody>
      </p:sp>
      <p:sp>
        <p:nvSpPr>
          <p:cNvPr id="200" name="Google Shape;200;p21"/>
          <p:cNvSpPr txBox="1"/>
          <p:nvPr/>
        </p:nvSpPr>
        <p:spPr>
          <a:xfrm>
            <a:off x="3129814" y="131263"/>
            <a:ext cx="6899709" cy="4385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850" b="1" i="0" u="none" strike="noStrike" cap="none" noProof="0" dirty="0">
                <a:solidFill>
                  <a:srgbClr val="10B981"/>
                </a:solidFill>
                <a:latin typeface="Poppins"/>
                <a:ea typeface="Poppins"/>
                <a:cs typeface="Poppins"/>
                <a:sym typeface="Poppins"/>
              </a:rPr>
              <a:t>TRAZABILIDAD CON SLF4J</a:t>
            </a:r>
            <a:endParaRPr lang="es-CL" noProof="0" dirty="0"/>
          </a:p>
        </p:txBody>
      </p:sp>
      <p:sp>
        <p:nvSpPr>
          <p:cNvPr id="201" name="Google Shape;201;p21"/>
          <p:cNvSpPr/>
          <p:nvPr/>
        </p:nvSpPr>
        <p:spPr>
          <a:xfrm flipH="1">
            <a:off x="3003081" y="120065"/>
            <a:ext cx="45719" cy="370823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BEF03A08-47FD-5C1B-9DB8-5A6B9EBA579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05500" y="1048777"/>
            <a:ext cx="6059847" cy="570047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597049B0-FAB2-3077-1884-56960035324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05500" y="2294798"/>
            <a:ext cx="6019800" cy="4173403"/>
          </a:xfrm>
          <a:prstGeom prst="rect">
            <a:avLst/>
          </a:prstGeom>
        </p:spPr>
      </p:pic>
      <p:sp>
        <p:nvSpPr>
          <p:cNvPr id="13" name="CuadroTexto 12">
            <a:extLst>
              <a:ext uri="{FF2B5EF4-FFF2-40B4-BE49-F238E27FC236}">
                <a16:creationId xmlns:a16="http://schemas.microsoft.com/office/drawing/2014/main" id="{4E22D0DC-FF7F-C777-4339-8B45E6070BBB}"/>
              </a:ext>
            </a:extLst>
          </p:cNvPr>
          <p:cNvSpPr txBox="1"/>
          <p:nvPr/>
        </p:nvSpPr>
        <p:spPr>
          <a:xfrm>
            <a:off x="7478830" y="706895"/>
            <a:ext cx="175179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solidFill>
                  <a:schemeClr val="bg1"/>
                </a:solidFill>
              </a:rPr>
              <a:t>Importe Librerías</a:t>
            </a:r>
            <a:endParaRPr lang="es-CL" dirty="0">
              <a:solidFill>
                <a:schemeClr val="bg1"/>
              </a:solidFill>
            </a:endParaRP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D53F9C3E-AD86-D060-CA7D-3EEDB7B3C688}"/>
              </a:ext>
            </a:extLst>
          </p:cNvPr>
          <p:cNvSpPr txBox="1"/>
          <p:nvPr/>
        </p:nvSpPr>
        <p:spPr>
          <a:xfrm>
            <a:off x="7565458" y="1843933"/>
            <a:ext cx="175721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>
                <a:solidFill>
                  <a:schemeClr val="bg1"/>
                </a:solidFill>
              </a:rPr>
              <a:t>Uso de Logs SLF4J</a:t>
            </a:r>
            <a:endParaRPr lang="es-CL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6" name="Google Shape;206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22"/>
          <p:cNvSpPr txBox="1"/>
          <p:nvPr/>
        </p:nvSpPr>
        <p:spPr>
          <a:xfrm>
            <a:off x="7048086" y="2570569"/>
            <a:ext cx="4905375" cy="7879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500" b="0" i="0" u="none" strike="noStrike" cap="none" noProof="0" dirty="0">
                <a:solidFill>
                  <a:srgbClr val="C9D1D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s-CL" sz="1600" b="1" i="0" u="none" strike="noStrike" cap="none" noProof="0" dirty="0">
                <a:solidFill>
                  <a:srgbClr val="C9D1D9"/>
                </a:solidFill>
                <a:latin typeface="Lato"/>
                <a:ea typeface="Lato"/>
                <a:cs typeface="Lato"/>
                <a:sym typeface="Lato"/>
              </a:rPr>
              <a:t>Ramas Independientes:</a:t>
            </a:r>
            <a:r>
              <a:rPr lang="es-CL" sz="1600" b="0" i="0" u="none" strike="noStrike" cap="none" noProof="0" dirty="0">
                <a:solidFill>
                  <a:srgbClr val="C9D1D9"/>
                </a:solidFill>
                <a:latin typeface="Lato"/>
                <a:ea typeface="Lato"/>
                <a:cs typeface="Lato"/>
                <a:sym typeface="Lato"/>
              </a:rPr>
              <a:t> Desarrollo paralelo por microservicio</a:t>
            </a:r>
            <a:r>
              <a:rPr lang="es-CL" sz="1500" b="0" i="0" u="none" strike="noStrike" cap="none" noProof="0" dirty="0">
                <a:solidFill>
                  <a:srgbClr val="C9D1D9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lang="es-CL" noProof="0" dirty="0"/>
          </a:p>
        </p:txBody>
      </p:sp>
      <p:sp>
        <p:nvSpPr>
          <p:cNvPr id="210" name="Google Shape;210;p22"/>
          <p:cNvSpPr txBox="1"/>
          <p:nvPr/>
        </p:nvSpPr>
        <p:spPr>
          <a:xfrm>
            <a:off x="7048086" y="3429000"/>
            <a:ext cx="4905375" cy="7879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1" i="0" u="none" strike="noStrike" cap="none" noProof="0" dirty="0" err="1">
                <a:solidFill>
                  <a:srgbClr val="C9D1D9"/>
                </a:solidFill>
                <a:latin typeface="Lato"/>
                <a:ea typeface="Lato"/>
                <a:cs typeface="Lato"/>
                <a:sym typeface="Lato"/>
              </a:rPr>
              <a:t>Commits</a:t>
            </a:r>
            <a:r>
              <a:rPr lang="es-CL" sz="1600" b="1" i="0" u="none" strike="noStrike" cap="none" noProof="0" dirty="0">
                <a:solidFill>
                  <a:srgbClr val="C9D1D9"/>
                </a:solidFill>
                <a:latin typeface="Lato"/>
                <a:ea typeface="Lato"/>
                <a:cs typeface="Lato"/>
                <a:sym typeface="Lato"/>
              </a:rPr>
              <a:t> Técnicos:</a:t>
            </a:r>
            <a:r>
              <a:rPr lang="es-CL" sz="1600" b="0" i="0" u="none" strike="noStrike" cap="none" noProof="0" dirty="0">
                <a:solidFill>
                  <a:srgbClr val="C9D1D9"/>
                </a:solidFill>
                <a:latin typeface="Lato"/>
                <a:ea typeface="Lato"/>
                <a:cs typeface="Lato"/>
                <a:sym typeface="Lato"/>
              </a:rPr>
              <a:t> Historial descriptivo y progresivo del avance</a:t>
            </a:r>
            <a:r>
              <a:rPr lang="es-CL" sz="1500" b="0" i="0" u="none" strike="noStrike" cap="none" noProof="0" dirty="0">
                <a:solidFill>
                  <a:srgbClr val="C9D1D9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lang="es-CL" noProof="0" dirty="0"/>
          </a:p>
        </p:txBody>
      </p:sp>
      <p:sp>
        <p:nvSpPr>
          <p:cNvPr id="211" name="Google Shape;211;p22"/>
          <p:cNvSpPr txBox="1"/>
          <p:nvPr/>
        </p:nvSpPr>
        <p:spPr>
          <a:xfrm>
            <a:off x="7048086" y="4285069"/>
            <a:ext cx="4905375" cy="7879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500" b="0" i="0" u="none" strike="noStrike" cap="none" noProof="0" dirty="0">
                <a:solidFill>
                  <a:srgbClr val="C9D1D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s-CL" sz="1600" b="1" i="0" u="none" strike="noStrike" cap="none" noProof="0" dirty="0">
                <a:solidFill>
                  <a:srgbClr val="C9D1D9"/>
                </a:solidFill>
                <a:latin typeface="Lato"/>
                <a:ea typeface="Lato"/>
                <a:cs typeface="Lato"/>
                <a:sym typeface="Lato"/>
              </a:rPr>
              <a:t>Integración:</a:t>
            </a:r>
            <a:r>
              <a:rPr lang="es-CL" sz="1600" b="0" i="0" u="none" strike="noStrike" cap="none" noProof="0" dirty="0">
                <a:solidFill>
                  <a:srgbClr val="C9D1D9"/>
                </a:solidFill>
                <a:latin typeface="Lato"/>
                <a:ea typeface="Lato"/>
                <a:cs typeface="Lato"/>
                <a:sym typeface="Lato"/>
              </a:rPr>
              <a:t> Repositorio centralizado para control de versiones total.</a:t>
            </a:r>
            <a:endParaRPr lang="es-CL" noProof="0" dirty="0"/>
          </a:p>
        </p:txBody>
      </p:sp>
      <p:pic>
        <p:nvPicPr>
          <p:cNvPr id="212" name="Google Shape;212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715125" y="2713559"/>
            <a:ext cx="200025" cy="238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3" name="Google Shape;213;p2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664394" y="3567380"/>
            <a:ext cx="2857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4" name="Google Shape;214;p22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696075" y="4354106"/>
            <a:ext cx="219075" cy="238125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22"/>
          <p:cNvSpPr txBox="1"/>
          <p:nvPr/>
        </p:nvSpPr>
        <p:spPr>
          <a:xfrm>
            <a:off x="4151244" y="208281"/>
            <a:ext cx="3583885" cy="4385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850" b="1" i="0" u="none" strike="noStrike" cap="none" noProof="0" dirty="0">
                <a:solidFill>
                  <a:srgbClr val="10B981"/>
                </a:solidFill>
                <a:latin typeface="Poppins"/>
                <a:ea typeface="Poppins"/>
                <a:cs typeface="Poppins"/>
                <a:sym typeface="Poppins"/>
              </a:rPr>
              <a:t>FLUJO DE TRABAJO</a:t>
            </a:r>
            <a:endParaRPr lang="es-CL" noProof="0" dirty="0"/>
          </a:p>
        </p:txBody>
      </p:sp>
      <p:sp>
        <p:nvSpPr>
          <p:cNvPr id="216" name="Google Shape;216;p22"/>
          <p:cNvSpPr/>
          <p:nvPr/>
        </p:nvSpPr>
        <p:spPr>
          <a:xfrm>
            <a:off x="3756992" y="208281"/>
            <a:ext cx="52180" cy="43858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11583F7D-EDF0-F3A9-B30B-B816DB590A6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10306" y="1829688"/>
            <a:ext cx="6193052" cy="365671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1" name="Google Shape;221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2" name="Google Shape;222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400300"/>
            <a:ext cx="3492549" cy="2886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3" name="Google Shape;223;p2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799" y="2400300"/>
            <a:ext cx="3492549" cy="2886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4" name="Google Shape;224;p2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8099" y="2400300"/>
            <a:ext cx="3492549" cy="2886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5" name="Google Shape;225;p23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14400" y="2743200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23"/>
          <p:cNvSpPr txBox="1"/>
          <p:nvPr/>
        </p:nvSpPr>
        <p:spPr>
          <a:xfrm>
            <a:off x="914400" y="3314700"/>
            <a:ext cx="2947087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1" i="0" u="none" strike="noStrike" cap="none" noProof="0" dirty="0">
                <a:solidFill>
                  <a:srgbClr val="10B981"/>
                </a:solidFill>
                <a:latin typeface="Poppins"/>
                <a:ea typeface="Poppins"/>
                <a:cs typeface="Poppins"/>
                <a:sym typeface="Poppins"/>
              </a:rPr>
              <a:t>Cambios en Vivo</a:t>
            </a:r>
            <a:endParaRPr lang="es-CL" noProof="0" dirty="0"/>
          </a:p>
        </p:txBody>
      </p:sp>
      <p:sp>
        <p:nvSpPr>
          <p:cNvPr id="227" name="Google Shape;227;p23"/>
          <p:cNvSpPr txBox="1"/>
          <p:nvPr/>
        </p:nvSpPr>
        <p:spPr>
          <a:xfrm>
            <a:off x="914400" y="3838575"/>
            <a:ext cx="2806749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500" b="0" i="0" u="none" strike="noStrike" cap="none" noProof="0" dirty="0">
                <a:solidFill>
                  <a:srgbClr val="C9D1D9"/>
                </a:solidFill>
                <a:latin typeface="Lato"/>
                <a:ea typeface="Lato"/>
                <a:cs typeface="Lato"/>
                <a:sym typeface="Lato"/>
              </a:rPr>
              <a:t>Dominio total para modificar entidades, repositorios o reglas de negocio ante el docente.</a:t>
            </a:r>
            <a:endParaRPr lang="es-CL" noProof="0" dirty="0"/>
          </a:p>
        </p:txBody>
      </p:sp>
      <p:pic>
        <p:nvPicPr>
          <p:cNvPr id="228" name="Google Shape;228;p23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692699" y="2743200"/>
            <a:ext cx="42862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23"/>
          <p:cNvSpPr txBox="1"/>
          <p:nvPr/>
        </p:nvSpPr>
        <p:spPr>
          <a:xfrm>
            <a:off x="4692699" y="3314700"/>
            <a:ext cx="2947087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1" i="0" u="none" strike="noStrike" cap="none" noProof="0" dirty="0">
                <a:solidFill>
                  <a:srgbClr val="10B981"/>
                </a:solidFill>
                <a:latin typeface="Poppins"/>
                <a:ea typeface="Poppins"/>
                <a:cs typeface="Poppins"/>
                <a:sym typeface="Poppins"/>
              </a:rPr>
              <a:t>Depuración</a:t>
            </a:r>
            <a:endParaRPr lang="es-CL" noProof="0" dirty="0"/>
          </a:p>
        </p:txBody>
      </p:sp>
      <p:sp>
        <p:nvSpPr>
          <p:cNvPr id="230" name="Google Shape;230;p23"/>
          <p:cNvSpPr txBox="1"/>
          <p:nvPr/>
        </p:nvSpPr>
        <p:spPr>
          <a:xfrm>
            <a:off x="4692699" y="3838575"/>
            <a:ext cx="2806749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500" b="0" i="0" u="none" strike="noStrike" cap="none" noProof="0" dirty="0">
                <a:solidFill>
                  <a:srgbClr val="C9D1D9"/>
                </a:solidFill>
                <a:latin typeface="Lato"/>
                <a:ea typeface="Lato"/>
                <a:cs typeface="Lato"/>
                <a:sym typeface="Lato"/>
              </a:rPr>
              <a:t>Capacidad de interpretar trazas de error en consola y diagnosticar problemas de conexión.</a:t>
            </a:r>
            <a:endParaRPr lang="es-CL" noProof="0" dirty="0"/>
          </a:p>
        </p:txBody>
      </p:sp>
      <p:pic>
        <p:nvPicPr>
          <p:cNvPr id="231" name="Google Shape;231;p23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470999" y="2743200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23"/>
          <p:cNvSpPr txBox="1"/>
          <p:nvPr/>
        </p:nvSpPr>
        <p:spPr>
          <a:xfrm>
            <a:off x="8470999" y="3314700"/>
            <a:ext cx="2947087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1" i="0" u="none" strike="noStrike" cap="none" noProof="0" dirty="0">
                <a:solidFill>
                  <a:srgbClr val="10B981"/>
                </a:solidFill>
                <a:latin typeface="Poppins"/>
                <a:ea typeface="Poppins"/>
                <a:cs typeface="Poppins"/>
                <a:sym typeface="Poppins"/>
              </a:rPr>
              <a:t>Pruebas REST</a:t>
            </a:r>
            <a:endParaRPr lang="es-CL" noProof="0" dirty="0"/>
          </a:p>
        </p:txBody>
      </p:sp>
      <p:sp>
        <p:nvSpPr>
          <p:cNvPr id="233" name="Google Shape;233;p23"/>
          <p:cNvSpPr txBox="1"/>
          <p:nvPr/>
        </p:nvSpPr>
        <p:spPr>
          <a:xfrm>
            <a:off x="8470999" y="3838575"/>
            <a:ext cx="2806749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500" b="0" i="0" u="none" strike="noStrike" cap="none" noProof="0" dirty="0">
                <a:solidFill>
                  <a:srgbClr val="C9D1D9"/>
                </a:solidFill>
                <a:latin typeface="Lato"/>
                <a:ea typeface="Lato"/>
                <a:cs typeface="Lato"/>
                <a:sym typeface="Lato"/>
              </a:rPr>
              <a:t>Validación inmediata de flujos modificados utilizando Postman con respuestas JSON.</a:t>
            </a:r>
            <a:endParaRPr lang="es-CL" noProof="0" dirty="0"/>
          </a:p>
        </p:txBody>
      </p:sp>
      <p:sp>
        <p:nvSpPr>
          <p:cNvPr id="234" name="Google Shape;234;p23"/>
          <p:cNvSpPr txBox="1"/>
          <p:nvPr/>
        </p:nvSpPr>
        <p:spPr>
          <a:xfrm>
            <a:off x="762000" y="571500"/>
            <a:ext cx="11401425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850" b="1" i="0" u="none" strike="noStrike" cap="none" noProof="0" dirty="0">
                <a:solidFill>
                  <a:srgbClr val="10B981"/>
                </a:solidFill>
                <a:latin typeface="Poppins"/>
                <a:ea typeface="Poppins"/>
                <a:cs typeface="Poppins"/>
                <a:sym typeface="Poppins"/>
              </a:rPr>
              <a:t>PREPARACIÓN: DEFENSA TÉCNICA</a:t>
            </a:r>
            <a:endParaRPr lang="es-CL" noProof="0" dirty="0"/>
          </a:p>
        </p:txBody>
      </p:sp>
      <p:sp>
        <p:nvSpPr>
          <p:cNvPr id="235" name="Google Shape;235;p23"/>
          <p:cNvSpPr/>
          <p:nvPr/>
        </p:nvSpPr>
        <p:spPr>
          <a:xfrm>
            <a:off x="571500" y="571500"/>
            <a:ext cx="57150" cy="54292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50</TotalTime>
  <Words>566</Words>
  <Application>Microsoft Office PowerPoint</Application>
  <PresentationFormat>Panorámica</PresentationFormat>
  <Paragraphs>72</Paragraphs>
  <Slides>11</Slides>
  <Notes>11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6" baseType="lpstr">
      <vt:lpstr>Lato</vt:lpstr>
      <vt:lpstr>Calibri</vt:lpstr>
      <vt:lpstr>Poppins</vt:lpstr>
      <vt:lpstr>Arial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CHRISTIAN NICOLAS ASTORGA SANDOVAL</cp:lastModifiedBy>
  <cp:revision>5</cp:revision>
  <dcterms:modified xsi:type="dcterms:W3CDTF">2026-05-27T00:32:03Z</dcterms:modified>
</cp:coreProperties>
</file>